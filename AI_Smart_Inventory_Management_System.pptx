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143000"/>
            <a:ext cx="10922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A3BF"/>
                </a:solidFill>
                <a:latin typeface="Segoe UI"/>
              </a:rPr>
              <a:t>Demand Forecasting using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2082800"/>
            <a:ext cx="6604000" cy="4826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171700"/>
            <a:ext cx="635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Team Members: Name 1 | Name 2 | Name 3 | Name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895600"/>
            <a:ext cx="5334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3022600"/>
            <a:ext cx="502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429000"/>
            <a:ext cx="5029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End-to-end ML workflow for inventory demand forecasting, deployment, and MLOps.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400" y="2895600"/>
            <a:ext cx="53848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6200" y="3022600"/>
            <a:ext cx="5080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3429000"/>
            <a:ext cx="50800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Python, Random Forest, XGBoost, FastAPI, Streamlit, Docker,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1854200"/>
            <a:ext cx="11074400" cy="30988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1981199"/>
            <a:ext cx="10769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Key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387600"/>
            <a:ext cx="10769600" cy="246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Overstocking -&gt; high cost
Understocking -&gt; lost sales
No accurate demand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5308600"/>
            <a:ext cx="6604000" cy="4826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5397500"/>
            <a:ext cx="635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Retail needs intelligent demand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1981199"/>
            <a:ext cx="3479800" cy="3175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108200"/>
            <a:ext cx="3175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ML-based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514600"/>
            <a:ext cx="3175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Forecast demand with supervised learning to support better stock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100" y="1981199"/>
            <a:ext cx="3479800" cy="3175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900" y="2108200"/>
            <a:ext cx="3175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Feature-rich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2514600"/>
            <a:ext cx="3175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Uses historical sales and engineered features to improve predictive power.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399" y="1981199"/>
            <a:ext cx="3479800" cy="3175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2108200"/>
            <a:ext cx="3175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Automated E2E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2514600"/>
            <a:ext cx="3175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Integrated workflow from training to deployment and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143000"/>
            <a:ext cx="10922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A3BF"/>
                </a:solidFill>
                <a:latin typeface="Segoe UI"/>
              </a:rPr>
              <a:t>Time-series retail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2032000"/>
            <a:ext cx="2540000" cy="2540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2159000"/>
            <a:ext cx="2235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565400"/>
            <a:ext cx="22352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Store-level sales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800" y="2032000"/>
            <a:ext cx="2540000" cy="2540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0600" y="2159000"/>
            <a:ext cx="2235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Product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2565400"/>
            <a:ext cx="22352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Category-level behavior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6800" y="2032000"/>
            <a:ext cx="2540000" cy="2540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2159000"/>
            <a:ext cx="2235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5400"/>
            <a:ext cx="22352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Historical target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800" y="2032000"/>
            <a:ext cx="2692400" cy="2540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8600" y="2159000"/>
            <a:ext cx="2387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600" y="2565400"/>
            <a:ext cx="238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Demand uplift driver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800" y="5080000"/>
            <a:ext cx="4190999" cy="4826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200" y="5168900"/>
            <a:ext cx="393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Dataset versioned using DVC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2032000"/>
            <a:ext cx="3556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1590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565400"/>
            <a:ext cx="3251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Missing values handled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2032000"/>
            <a:ext cx="3556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21590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Time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2565400"/>
            <a:ext cx="3251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Sorted by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032000"/>
            <a:ext cx="3556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000" y="21590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0" y="2565400"/>
            <a:ext cx="3251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Encoding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00" y="5207000"/>
            <a:ext cx="6604000" cy="482600"/>
          </a:xfrm>
          <a:prstGeom prst="roundRect">
            <a:avLst>
              <a:gd name="adj" fmla="val 20000"/>
            </a:avLst>
          </a:prstGeom>
          <a:solidFill>
            <a:srgbClr val="67E8A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5295900"/>
            <a:ext cx="635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Same preprocessing used in training &amp;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Feature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1905000"/>
            <a:ext cx="2667000" cy="2743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032000"/>
            <a:ext cx="2362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Lag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438400"/>
            <a:ext cx="236220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Lag features -&gt; past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4400" y="1905000"/>
            <a:ext cx="2667000" cy="2743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2200" y="2032000"/>
            <a:ext cx="2362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Rolling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2200" y="2438400"/>
            <a:ext cx="236220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Rolling mean -&gt; trend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0" y="1905000"/>
            <a:ext cx="2667000" cy="2743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7800" y="2032000"/>
            <a:ext cx="2362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Rolling Std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0" y="2438400"/>
            <a:ext cx="236220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Rolling std -&gt; volatility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5600" y="1905000"/>
            <a:ext cx="2387600" cy="2743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3400" y="2032000"/>
            <a:ext cx="20828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Time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3400" y="2438400"/>
            <a:ext cx="208280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Time features -&gt; seasonality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800" y="5029200"/>
            <a:ext cx="3937000" cy="4826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5118100"/>
            <a:ext cx="368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Core strength of the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Models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2235200"/>
            <a:ext cx="4064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1800" y="2362200"/>
            <a:ext cx="3759199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1800" y="2768600"/>
            <a:ext cx="3759199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Ensemble baseline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4000" y="2235200"/>
            <a:ext cx="4064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1800" y="2362200"/>
            <a:ext cx="3759199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768600"/>
            <a:ext cx="3759199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Gradient boosted decision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334000"/>
            <a:ext cx="3048000" cy="4826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4400" y="5422900"/>
            <a:ext cx="279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Compared using RMSE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1600200"/>
            <a:ext cx="4572000" cy="431800"/>
          </a:xfrm>
          <a:prstGeom prst="roundRect">
            <a:avLst>
              <a:gd name="adj" fmla="val 20000"/>
            </a:avLst>
          </a:prstGeom>
          <a:solidFill>
            <a:srgbClr val="67E8A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1689100"/>
            <a:ext cx="431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XGBoost -&gt; best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0" y="1600200"/>
            <a:ext cx="2286000" cy="4318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689100"/>
            <a:ext cx="203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Lower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23200" y="1600200"/>
            <a:ext cx="3810000" cy="4318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5599" y="1689100"/>
            <a:ext cx="355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Handles non-linear patterns 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413000"/>
            <a:ext cx="9144000" cy="3175000"/>
          </a:xfrm>
          <a:prstGeom prst="roundRect">
            <a:avLst/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13000" y="3492500"/>
            <a:ext cx="5842000" cy="4826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3800" y="3149600"/>
            <a:ext cx="330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BF"/>
                </a:solidFill>
                <a:latin typeface="Segoe UI"/>
              </a:rPr>
              <a:t>Random Forest RMSE (higher)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4318000"/>
            <a:ext cx="4445000" cy="482600"/>
          </a:xfrm>
          <a:prstGeom prst="roundRect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3800" y="3975100"/>
            <a:ext cx="304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BF"/>
                </a:solidFill>
                <a:latin typeface="Segoe UI"/>
              </a:rPr>
              <a:t>XGBoost RMSE (lower)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Pipeline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600" y="2921000"/>
            <a:ext cx="1905000" cy="1016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75000"/>
            <a:ext cx="1701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24100" y="3251200"/>
            <a:ext cx="330200" cy="355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7800" y="2921000"/>
            <a:ext cx="1905000" cy="1016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9400" y="3175000"/>
            <a:ext cx="1701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Preprocess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86300" y="3251200"/>
            <a:ext cx="330200" cy="355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0000" y="2921000"/>
            <a:ext cx="1905000" cy="1016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1600" y="3175000"/>
            <a:ext cx="1701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Features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8500" y="3251200"/>
            <a:ext cx="330200" cy="355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2200" y="2921000"/>
            <a:ext cx="1905000" cy="1016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175000"/>
            <a:ext cx="1701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Train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10700" y="3251200"/>
            <a:ext cx="330200" cy="355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04400" y="2921000"/>
            <a:ext cx="1905000" cy="1016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0" y="3175000"/>
            <a:ext cx="1701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Save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800" y="5181600"/>
            <a:ext cx="4572000" cy="4826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200" y="5270500"/>
            <a:ext cx="431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Fully automated using pipeline.py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Inference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" y="2794000"/>
            <a:ext cx="2159000" cy="1143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3048000"/>
            <a:ext cx="1955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76600" y="3175000"/>
            <a:ext cx="406400" cy="3810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4600" y="2794000"/>
            <a:ext cx="2159000" cy="1143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3048000"/>
            <a:ext cx="1955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Preprocess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45200" y="3175000"/>
            <a:ext cx="406400" cy="3810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53200" y="2794000"/>
            <a:ext cx="2159000" cy="114300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4800" y="3048000"/>
            <a:ext cx="1955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Features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3800" y="3175000"/>
            <a:ext cx="406400" cy="3810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1800" y="2794000"/>
            <a:ext cx="215900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3400" y="3048000"/>
            <a:ext cx="1955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8FF"/>
                </a:solidFill>
                <a:latin typeface="Segoe UI"/>
              </a:rPr>
              <a:t>Predict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800" y="5181600"/>
            <a:ext cx="5207000" cy="482600"/>
          </a:xfrm>
          <a:prstGeom prst="roundRect">
            <a:avLst>
              <a:gd name="adj" fmla="val 20000"/>
            </a:avLst>
          </a:prstGeom>
          <a:solidFill>
            <a:srgbClr val="67E8A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" y="5270500"/>
            <a:ext cx="495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Same logic reused -&gt; no data leakage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FastAPI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2082800"/>
            <a:ext cx="5461000" cy="30734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209800"/>
            <a:ext cx="5156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API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616200"/>
            <a:ext cx="51562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Endpoint: /predict
JSON input
Returns prediction
Schema validation using 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0000" y="2082800"/>
            <a:ext cx="5283200" cy="3073400"/>
          </a:xfrm>
          <a:prstGeom prst="roundRect">
            <a:avLst>
              <a:gd name="adj" fmla="val 7000"/>
            </a:avLst>
          </a:prstGeom>
          <a:solidFill>
            <a:srgbClr val="0D1623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8600" y="2336800"/>
            <a:ext cx="4826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D3EE"/>
                </a:solidFill>
                <a:latin typeface="Segoe UI"/>
              </a:rPr>
              <a:t>{
  "store": 12,
  "family": "Dairy",
  "promotion": 1
}
-&gt; { "prediction": 1248.6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MLOps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2082800"/>
            <a:ext cx="3556000" cy="2997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2098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2616200"/>
            <a:ext cx="3251200" cy="236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Containerization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2082800"/>
            <a:ext cx="3556000" cy="2997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22098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2616200"/>
            <a:ext cx="3251200" cy="236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Tracking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082800"/>
            <a:ext cx="3556000" cy="29972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000" y="2209800"/>
            <a:ext cx="3251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0" y="2616200"/>
            <a:ext cx="3251200" cy="236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Automation with GitHub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00" y="5334000"/>
            <a:ext cx="3683000" cy="48260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5422900"/>
            <a:ext cx="3429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This slide gives extra 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" y="1498600"/>
            <a:ext cx="6731000" cy="431800"/>
          </a:xfrm>
          <a:prstGeom prst="roundRect">
            <a:avLst>
              <a:gd name="adj" fmla="val 20000"/>
            </a:avLst>
          </a:prstGeom>
          <a:solidFill>
            <a:srgbClr val="172231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1587500"/>
            <a:ext cx="647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Segoe UI"/>
              </a:rPr>
              <a:t>Streamlit SaaS UI | KPI cards | Graph +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2032000"/>
            <a:ext cx="11074400" cy="4241800"/>
          </a:xfrm>
          <a:prstGeom prst="roundRect">
            <a:avLst>
              <a:gd name="adj" fmla="val 3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209800"/>
            <a:ext cx="10718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4F8FF"/>
                </a:solidFill>
                <a:latin typeface="Segoe U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322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FA3BF"/>
                </a:solidFill>
                <a:latin typeface="Segoe UI"/>
              </a:rPr>
              <a:t>(Switch to app here)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4600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End-to-end ML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Integrated workflow from data to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800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600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Production-ready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Deployment and MLOps are included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799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2600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600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Designed for extension and reuse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7695" y="4064000"/>
            <a:ext cx="3556000" cy="3556000"/>
          </a:xfrm>
          <a:prstGeom prst="ellipse">
            <a:avLst/>
          </a:prstGeom>
          <a:solidFill>
            <a:srgbClr val="67E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406400"/>
            <a:ext cx="11049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F"/>
                </a:solidFill>
                <a:latin typeface="Segoe UI"/>
              </a:rPr>
              <a:t>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3800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External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Add weather/holiday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800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600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Advanced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Use deep learning (LSTM)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5599" y="2286000"/>
            <a:ext cx="3175000" cy="2794000"/>
          </a:xfrm>
          <a:prstGeom prst="roundRect">
            <a:avLst>
              <a:gd name="adj" fmla="val 8000"/>
            </a:avLst>
          </a:prstGeom>
          <a:solidFill>
            <a:srgbClr val="121A27"/>
          </a:solidFill>
          <a:ln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399" y="2413000"/>
            <a:ext cx="2870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Segoe UI"/>
              </a:rPr>
              <a:t>Real-time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399" y="2819400"/>
            <a:ext cx="2870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BF"/>
                </a:solidFill>
                <a:latin typeface="Segoe UI"/>
              </a:rPr>
              <a:t>Real-time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