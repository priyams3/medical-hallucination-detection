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cbf84c835f43d3" /><Relationship Type="http://schemas.openxmlformats.org/officeDocument/2006/relationships/extended-properties" Target="/docProps/app.xml" Id="Rfbd3c01e3ee942d9" /><Relationship Type="http://schemas.openxmlformats.org/officeDocument/2006/relationships/officeDocument" Target="/ppt/presentation.xml" Id="R26a6c54d212144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74188eaba4987"/>
  </p:sldMasterIdLst>
  <p:notesMasterIdLst>
    <p:notesMasterId xmlns:r="http://schemas.openxmlformats.org/officeDocument/2006/relationships" r:id="Rbf247730125f472f"/>
  </p:notesMasterIdLst>
  <p:sldIdLst>
    <p:sldId xmlns:r="http://schemas.openxmlformats.org/officeDocument/2006/relationships" id="256" r:id="R87561d0ee5104194"/>
    <p:sldId xmlns:r="http://schemas.openxmlformats.org/officeDocument/2006/relationships" id="257" r:id="R25f7d6aaeeb54257"/>
    <p:sldId xmlns:r="http://schemas.openxmlformats.org/officeDocument/2006/relationships" id="258" r:id="R6ed1d96b46b84e6a"/>
    <p:sldId xmlns:r="http://schemas.openxmlformats.org/officeDocument/2006/relationships" id="259" r:id="Re78b8580941e47f1"/>
    <p:sldId xmlns:r="http://schemas.openxmlformats.org/officeDocument/2006/relationships" id="260" r:id="Rf5c787b3fb00438d"/>
    <p:sldId xmlns:r="http://schemas.openxmlformats.org/officeDocument/2006/relationships" id="261" r:id="Rd1554e3723354db9"/>
    <p:sldId xmlns:r="http://schemas.openxmlformats.org/officeDocument/2006/relationships" id="262" r:id="R64b3a94308af465a"/>
    <p:sldId xmlns:r="http://schemas.openxmlformats.org/officeDocument/2006/relationships" id="263" r:id="R24a53a16180142f8"/>
    <p:sldId xmlns:r="http://schemas.openxmlformats.org/officeDocument/2006/relationships" id="264" r:id="R55eae34e1529463e"/>
    <p:sldId xmlns:r="http://schemas.openxmlformats.org/officeDocument/2006/relationships" id="265" r:id="R193a1c88d0764d21"/>
    <p:sldId xmlns:r="http://schemas.openxmlformats.org/officeDocument/2006/relationships" id="266" r:id="Re5925231182c479d"/>
  </p:sldIdLst>
  <p:sldSz cx="97536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74188eaba4987" /><Relationship Type="http://schemas.openxmlformats.org/officeDocument/2006/relationships/theme" Target="/ppt/theme/theme1.xml" Id="Rcf844ad34c4a4130" /><Relationship Type="http://schemas.openxmlformats.org/officeDocument/2006/relationships/notesMaster" Target="/ppt/notesMasters/notesMaster1.xml" Id="Rbf247730125f472f" /><Relationship Type="http://schemas.openxmlformats.org/officeDocument/2006/relationships/presProps" Target="/ppt/presProps.xml" Id="Rb402cad996784763" /><Relationship Type="http://schemas.openxmlformats.org/officeDocument/2006/relationships/viewProps" Target="/ppt/viewProps.xml" Id="R1f0698d8e0b64bab" /><Relationship Type="http://schemas.openxmlformats.org/officeDocument/2006/relationships/tableStyles" Target="/ppt/tableStyles.xml" Id="Re63b73a4240448f1" /><Relationship Type="http://schemas.openxmlformats.org/officeDocument/2006/relationships/slide" Target="/ppt/slides/slide1.xml" Id="R87561d0ee5104194" /><Relationship Type="http://schemas.openxmlformats.org/officeDocument/2006/relationships/slide" Target="/ppt/slides/slide2.xml" Id="R25f7d6aaeeb54257" /><Relationship Type="http://schemas.openxmlformats.org/officeDocument/2006/relationships/slide" Target="/ppt/slides/slide3.xml" Id="R6ed1d96b46b84e6a" /><Relationship Type="http://schemas.openxmlformats.org/officeDocument/2006/relationships/slide" Target="/ppt/slides/slide4.xml" Id="Re78b8580941e47f1" /><Relationship Type="http://schemas.openxmlformats.org/officeDocument/2006/relationships/slide" Target="/ppt/slides/slide5.xml" Id="Rf5c787b3fb00438d" /><Relationship Type="http://schemas.openxmlformats.org/officeDocument/2006/relationships/slide" Target="/ppt/slides/slide6.xml" Id="Rd1554e3723354db9" /><Relationship Type="http://schemas.openxmlformats.org/officeDocument/2006/relationships/slide" Target="/ppt/slides/slide7.xml" Id="R64b3a94308af465a" /><Relationship Type="http://schemas.openxmlformats.org/officeDocument/2006/relationships/slide" Target="/ppt/slides/slide8.xml" Id="R24a53a16180142f8" /><Relationship Type="http://schemas.openxmlformats.org/officeDocument/2006/relationships/slide" Target="/ppt/slides/slide9.xml" Id="R55eae34e1529463e" /><Relationship Type="http://schemas.openxmlformats.org/officeDocument/2006/relationships/slide" Target="/ppt/slides/slide10.xml" Id="R193a1c88d0764d21" /><Relationship Type="http://schemas.openxmlformats.org/officeDocument/2006/relationships/slide" Target="/ppt/slides/slide11.xml" Id="Re5925231182c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3a70da3fd104a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339bbbd6894b40" /><Relationship Type="http://schemas.openxmlformats.org/officeDocument/2006/relationships/notesMaster" Target="/ppt/notesMasters/notesMaster1.xml" Id="Re27629f544ff4c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d0335aa9974aa5" /><Relationship Type="http://schemas.openxmlformats.org/officeDocument/2006/relationships/notesMaster" Target="/ppt/notesMasters/notesMaster1.xml" Id="R37efcd2feaa149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7c095e7b3f4d43" /><Relationship Type="http://schemas.openxmlformats.org/officeDocument/2006/relationships/notesMaster" Target="/ppt/notesMasters/notesMaster1.xml" Id="R1a0aa0008b0c4f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42379aca19452e" /><Relationship Type="http://schemas.openxmlformats.org/officeDocument/2006/relationships/notesMaster" Target="/ppt/notesMasters/notesMaster1.xml" Id="R44aaccbe3c2c4a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a4bd67cbe04171" /><Relationship Type="http://schemas.openxmlformats.org/officeDocument/2006/relationships/notesMaster" Target="/ppt/notesMasters/notesMaster1.xml" Id="R092748558b8a45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3f05f909de4c79" /><Relationship Type="http://schemas.openxmlformats.org/officeDocument/2006/relationships/notesMaster" Target="/ppt/notesMasters/notesMaster1.xml" Id="R17db5f5183f14e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8a23700bb2471a" /><Relationship Type="http://schemas.openxmlformats.org/officeDocument/2006/relationships/notesMaster" Target="/ppt/notesMasters/notesMaster1.xml" Id="Re765d09ab5a74b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a332534720487c" /><Relationship Type="http://schemas.openxmlformats.org/officeDocument/2006/relationships/notesMaster" Target="/ppt/notesMasters/notesMaster1.xml" Id="Rf046cbf0e1c543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d572ea5d9d4c6e" /><Relationship Type="http://schemas.openxmlformats.org/officeDocument/2006/relationships/notesMaster" Target="/ppt/notesMasters/notesMaster1.xml" Id="R95d2a6dffcf344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4c641682b641b0" /><Relationship Type="http://schemas.openxmlformats.org/officeDocument/2006/relationships/notesMaster" Target="/ppt/notesMasters/notesMaster1.xml" Id="R46554a3bbc564a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2760d588f74cf4" /><Relationship Type="http://schemas.openxmlformats.org/officeDocument/2006/relationships/notesMaster" Target="/ppt/notesMasters/notesMaster1.xml" Id="R3c5b2bf41da74c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f287f58cd425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AEFAA4D-EA00-4898-9BD5-B85D1B70308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BFF5CF9-F094-42D3-9BC9-17909F8DDFD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6C42F9-87DA-4B31-BFBC-1DE393B1859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D4122A-C007-4E24-83BC-5788A19B2C1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09af875aa94ff7" /><Relationship Type="http://schemas.openxmlformats.org/officeDocument/2006/relationships/slideLayout" Target="/ppt/slideLayouts/slideLayout2.xml" Id="R4d355fcac32246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AB3898-7D37-4DB9-98B3-E03016835AE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355fcac32246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82e311d1e74cd9" /><Relationship Type="http://schemas.openxmlformats.org/officeDocument/2006/relationships/notesSlide" Target="/ppt/notesSlides/notesSlide1.xml" Id="R94541c70524943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90dde58f644bc5" /><Relationship Type="http://schemas.openxmlformats.org/officeDocument/2006/relationships/notesSlide" Target="/ppt/notesSlides/notesSlide2.xml" Id="R37e0df851cb446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9730d6ec6f4f9f" /><Relationship Type="http://schemas.openxmlformats.org/officeDocument/2006/relationships/notesSlide" Target="/ppt/notesSlides/notesSlide3.xml" Id="Rccd8b31e52a442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8460b507184088" /><Relationship Type="http://schemas.openxmlformats.org/officeDocument/2006/relationships/notesSlide" Target="/ppt/notesSlides/notesSlide4.xml" Id="R0f564a970ae9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8adee135774ba9" /><Relationship Type="http://schemas.openxmlformats.org/officeDocument/2006/relationships/notesSlide" Target="/ppt/notesSlides/notesSlide5.xml" Id="Rddce4570e69c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4491038c6f42b8" /><Relationship Type="http://schemas.openxmlformats.org/officeDocument/2006/relationships/notesSlide" Target="/ppt/notesSlides/notesSlide6.xml" Id="Rae651ed4cf584e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7507eac5744c6b" /><Relationship Type="http://schemas.openxmlformats.org/officeDocument/2006/relationships/notesSlide" Target="/ppt/notesSlides/notesSlide7.xml" Id="Rce67ce05d5b14f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80d4d190f84290" /><Relationship Type="http://schemas.openxmlformats.org/officeDocument/2006/relationships/notesSlide" Target="/ppt/notesSlides/notesSlide8.xml" Id="R58ed18e4d2a342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4116326384ac9" /><Relationship Type="http://schemas.openxmlformats.org/officeDocument/2006/relationships/notesSlide" Target="/ppt/notesSlides/notesSlide9.xml" Id="Rc098418e6c404c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8a73622aa4ff5" /><Relationship Type="http://schemas.openxmlformats.org/officeDocument/2006/relationships/notesSlide" Target="/ppt/notesSlides/notesSlide10.xml" Id="R5c6f26c3d1c142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dc9da698df45d1" /><Relationship Type="http://schemas.openxmlformats.org/officeDocument/2006/relationships/notesSlide" Target="/ppt/notesSlides/notesSlide11.xml" Id="Rb4c569e20b5441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BAFB-48B4-4E74-A287-981ADF51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72EE9-1845-4D9C-AEB9-4A7E0DB8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D1A87-3959-45FE-897E-456C7F96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Confidence-Aware Hybrid Ensemble for Phishing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CD58D-AC88-42E5-B159-D8DC1544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47973-4EA2-4B0E-95BB-7E149625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85344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305E0-E318-4E99-9AAF-40AFB813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7924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Team Project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Intelligent phishing website detection with robust hybrid decision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BDD14-59C8-4880-8D14-C0A7936D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7429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- Internal dataset: 11,055 samples</a:t>
            </a:r>
          </a:p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- External dataset: 2,456 samples</a:t>
            </a:r>
          </a:p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- Final system: Ensemble mode + Hybrid mode + Live API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8B6CB-795E-40C9-93C7-822A8FFF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06EEA-2AE3-4C0B-AB40-071ACE59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2293904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1F08E-15B0-4131-8C9B-D13A8F2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16717-2B01-4B8F-A598-C846D06B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2EEFD-CB4C-473A-B479-948D7993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Introduction and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41EF2-069C-4BFB-9082-8114594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Why this project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3EF12-1F77-439D-9018-CAEEB769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A4DCF-E242-432F-B125-4E41A680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Phishing websites remain one of the most common cyber attack vectors.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Standard ML models can perform well internally but degrade on unseen data.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Objective: build a robust, deployable phishing detection system.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We target three goals: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1) strong in-distribution accuracy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2) better robustness under distribution shift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3) practical deployment via batch pipeline and API.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F4A6A-2511-4248-B846-3091100D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5BC91-3EE2-460D-8026-F211B2BA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14955269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29444-4DC4-45FA-A902-36D026A2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2FD4C-80A5-4895-80D3-C966CB7B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98C8E-C509-4C1C-B4C4-C5B87CD1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Literature and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AAD4C-9BC6-4DED-968B-61C2F4CA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Base paper plus recent direction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20F7D-5487-48AE-B904-7AE415F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4713F-A05B-476A-BAD3-A6C64D3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Base paper: EnLeM (2025) reports strong phishing detection with ensemble learning.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Recent studies use ANN, transformer, and hybrid methods.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Common limitation: external robustness and confidence-aware control are under-addressed.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Our gap focus: selective hybrid override only when model confidence is 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95888-3392-4BBC-82AE-A8B66339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83DB4-119C-436D-BF79-7A5FA578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3</a:t>
            </a:r>
          </a:p>
        </p:txBody>
      </p:sp>
    </p:spTree>
    <p:extLst>
      <p:ext uri="{BB962C8B-B14F-4D97-AF65-F5344CB8AC3E}">
        <p14:creationId xmlns:p14="http://schemas.microsoft.com/office/powerpoint/2010/main" val="13116045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970C8-1102-44F9-8E48-F784896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726B5-4009-408D-AC4D-6057711D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9C4AC-C56B-4D26-9296-E044D7CC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Dataset and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37B70-4D6C-4A9B-8948-BAC8CCBD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Data used in this project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1F01C-A025-4F50-9BF4-43F1644C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0BFF4-FB53-45F2-8DEE-3AD33E7F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Training dataset: output.csv (from Training Dataset.arff), 11,055 rows, 30 features.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External dataset: .old.arff, 2,456 rows.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Feature values are discrete {-1, 0, 1}.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Feature harmonization on external data aligned 16 shared columns.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Example features: having_IP_Address, Prefix_Suffix, HTTPS_token, URL_of_Anchor, age_of_domain, Google_Index.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25FD4-9745-4A4F-9682-37013915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47074-A898-4EBE-95F7-7A5F716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4</a:t>
            </a:r>
          </a:p>
        </p:txBody>
      </p:sp>
    </p:spTree>
    <p:extLst>
      <p:ext uri="{BB962C8B-B14F-4D97-AF65-F5344CB8AC3E}">
        <p14:creationId xmlns:p14="http://schemas.microsoft.com/office/powerpoint/2010/main" val="4294855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59F47-18CD-482B-96A9-F57D1572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89090-0544-49B5-82D2-0F2B8E33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D5DBA-D7E4-4A00-8762-C3AE5EB5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Proposed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503B7-94FD-4895-90B2-4B359AE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Confidence-aware hybrid ensemble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3613A-80EE-421E-A434-2FDA55B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82332-28F6-4C17-9B0F-5333C4E1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Model layer: Simple ANN + Deep ANN + Dropout-style ANN.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Aggregation: soft-voting ensemble probability.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Confidence score: C(x) = max(P(y=1|x), 1 - P(y=1|x)).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Hybrid logic: if confidence &lt; 0.8 and security rules trigger, override prediction to phishing.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Two operation modes: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Ensemble mode: balanced performance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Hybrid mode: stronger phishing recall in uncertain cases.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DE860-30AF-4B51-B091-75792800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FBC52-3FC1-48E9-8D5D-9C804488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4131711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EEA58-C4E4-49ED-827A-BA24E6B1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EF505-FFF4-45E6-BB78-E7D53FE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FD5B7-9025-41D8-90B6-835B5CCF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Novelty and Contributions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944E-C9E0-4124-B801-71858634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What is new in our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A7BBD-1A49-4F2A-AA50-2C5907E0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DFB45-EFCD-4751-8BD6-6686DA3C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Confidence-aware selective override instead of always-on static rules.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Dual-mode architecture (ensemble and hybrid) for operational flexibility.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Explicit external validation under distribution shift, not only internal split.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End-to-end deployment artifacts: batch runner and live API for inference.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5C3D0-CAAC-4EE8-B086-6FCB9601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C0F4B-C495-4FDE-9726-78AD5682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6</a:t>
            </a:r>
          </a:p>
        </p:txBody>
      </p:sp>
    </p:spTree>
    <p:extLst>
      <p:ext uri="{BB962C8B-B14F-4D97-AF65-F5344CB8AC3E}">
        <p14:creationId xmlns:p14="http://schemas.microsoft.com/office/powerpoint/2010/main" val="18991131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AE14C-892B-4716-A058-CF9B03BC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D8005-89E5-4842-8DFC-8ACFB575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1A9BF-B995-49D7-B277-62DB3574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Internal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E0F35-F76C-4A1C-8E75-9076B79E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Strong in-distribution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4AEFB-C821-4A55-9A27-AD2369B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F62C2-70E6-4392-84C1-CFE5D9FF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- 5-fold CV best model: ensemble_softvote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F1 = 0.9704 +/- 0.0026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ROC-AUC = 0.9954 +/- 0.0006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Internal run metrics (11,055 samples):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Accuracy = 0.9809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Precision = 0.9744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Recall = 0.9917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F1-score = 0.9830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  - ROC-AUC = 0.9985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02414-E1E4-4BFF-9591-9F99C2DF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7AB66-D389-4CD1-B0B1-3370267C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7</a:t>
            </a:r>
          </a:p>
        </p:txBody>
      </p:sp>
    </p:spTree>
    <p:extLst>
      <p:ext uri="{BB962C8B-B14F-4D97-AF65-F5344CB8AC3E}">
        <p14:creationId xmlns:p14="http://schemas.microsoft.com/office/powerpoint/2010/main" val="8641870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B4239-8D88-4068-B53A-B4EEC24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F0F33-C708-4C01-B2BB-98C70B0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6A0D-DA0E-4853-BED3-D3BA16F3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External Results and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FC36B-4308-4797-8746-44E5D66B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Base ensemble vs proposed hybrid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62AE3-E510-4174-A6A7-BECE6AF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5C369-0F14-4E93-87BF-9346383A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876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4155"/>
                </a:solidFill>
              </a:defRPr>
            </a:pPr>
            <a:r>
              <a:rPr sz="1500" b="1">
                <a:solidFill>
                  <a:srgbClr val="334155"/>
                </a:solidFill>
              </a:rPr>
              <a:t>External dataset: 2,456 samples (.old.arff), phishing-positive 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73CA7-DCFA-4396-8CBF-91B29B3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382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C1096-1B69-48D9-8D33-F94937FB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A7021-0401-4178-9070-EB1DFC4F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09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F21D2-2C26-4914-9909-5A3D7414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09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7AF36-8AA0-410D-A693-4CEA1AF4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C682D-98A2-4D94-9FC5-64D11ECA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02F8F-EF55-4B25-ACCC-F8ACEB7E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ROC-AUC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F5A22-603F-420F-80DB-8C242BFA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3425B-5754-4BF7-973E-617C0ED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Base Ensemble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68E89-7C13-4F27-85BE-43996D8A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289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0.8783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16AFC-8F5B-4AA1-B342-84E22723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289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0.9539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8FD43-D1FF-4C16-B5D2-CCA421BD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0.8201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38DD7-0B02-4C8B-8A8E-DC775355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0.8820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1DD36-ADC4-4213-9418-1DE29FEA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0.9568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3A08E-C2F7-44B2-B896-0DAD5D5A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D75E0-8B67-48E6-A2D4-B37E84F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6534"/>
                </a:solidFill>
              </a:defRPr>
            </a:pPr>
            <a:r>
              <a:rPr sz="1275" b="1">
                <a:solidFill>
                  <a:srgbClr val="166534"/>
                </a:solidFill>
              </a:rPr>
              <a:t>Proposed Hybrid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0B46B1-403F-40FF-89BC-032A0599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623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0.8905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40D28-6E84-4A2C-B468-0C07BC65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623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0.9498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7D5E7-E0A9-492F-95FB-499E2984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623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0.8473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9EDA1-1A68-42EC-A1ED-557BBE0C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623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0.8956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77E94-002F-4030-8347-735BF8BE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623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0.9568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6BFAA7-20AB-48D0-BF95-4BF7B378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C72B9D-55DE-4866-9DEB-2AD4731F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Delta (H - B)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BE13B7-E288-48FD-BF85-C984F218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957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+0.0122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CD6179-0CAA-493F-987A-559693A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957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-0.0041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FC1E9A-5F90-4699-A0D6-F3E9B67A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957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+0.0272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4135D7-7FB3-480C-9B5B-908C6C84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+0.0137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0D5900-A5D7-4C40-B68D-F870E141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957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0.0000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45A393-C33C-4C87-9B33-D608C71C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Key takeaway: hybrid logic improves recall and F1 on external data while keeping AUC stable.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This supports robustness under distribution shift.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A8C1D6-9763-443C-B917-5477196C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B86BD-41BB-40EB-8294-6639ABCC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8</a:t>
            </a:r>
          </a:p>
        </p:txBody>
      </p:sp>
    </p:spTree>
    <p:extLst>
      <p:ext uri="{BB962C8B-B14F-4D97-AF65-F5344CB8AC3E}">
        <p14:creationId xmlns:p14="http://schemas.microsoft.com/office/powerpoint/2010/main" val="1284176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69189-5A89-411B-93F9-7BBBA176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E6A11-A716-4B79-AA56-8B947B69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E9650-4A48-4543-B6F7-72B3EA05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System Demonstration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7C89C-BF2A-4920-B926-D9AC1F26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How to show live working in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39C2C-7CAD-4AEB-9D0B-00A61B58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51E50-2D38-439A-BB63-8A66E681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Step 1: Run batch pipeline (part15_end_to_end_system_runner.py).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Step 2: Show saved output CSV and summary JSON metrics.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Step 3: Start API server (part17_api_lite.py).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Step 4: Call /health then /predict using PowerShell request body from sample features.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Step 5: Show returned fields: mode, prediction_label, prediction_text, confidence, rules_triggered.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39D51-678D-4D93-A3BF-3E42CD2B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AD3BB-3CA3-4E33-B9A1-5E0D800A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9</a:t>
            </a:r>
          </a:p>
        </p:txBody>
      </p:sp>
    </p:spTree>
    <p:extLst>
      <p:ext uri="{BB962C8B-B14F-4D97-AF65-F5344CB8AC3E}">
        <p14:creationId xmlns:p14="http://schemas.microsoft.com/office/powerpoint/2010/main" val="10306775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9DA74-2286-4343-83DA-E3C2E9FA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C0388-4862-4A69-A14C-44BD76F0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C084C-292A-453F-A8C5-7A4E7A7D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Industry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BF82F-591B-405E-8D05-201E132C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Why this is deployable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C26DE-F62E-4CF3-BA3B-EE282DE8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7DA0A-3CEF-4E4C-BE4E-AFD46828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CPU-friendly inference with lightweight API endpoint.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Supports security workflow integration (batch scanning + on-demand scoring).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Rule-trigger trace improves explainability for analysts.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External validation demonstrates practical reliability beyond internal-only testing.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Suitable for further hardening, monitoring, and retraining pipeline extension.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DF33E-3385-4322-8725-757F658A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B1914-48C7-49C1-9C59-859A289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10199334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8875B3-0E5F-4E23-B0F9-FD3D9E137A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38B82-CA98-470E-A5D3-1C86D30B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731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F3F6F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936F9-D55F-4AD5-9B36-F7FAB271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75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F4EB3-F3F1-4219-AA31-A5026F8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24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Conclusion and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A8959-6EFC-4865-892A-8EEE340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24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7"/>
                </a:solidFill>
              </a:defRPr>
            </a:pPr>
            <a:r>
              <a:rPr sz="1125" b="0">
                <a:solidFill>
                  <a:srgbClr val="DDE7F7"/>
                </a:solidFill>
              </a:rPr>
              <a:t>Final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E3402-02AB-430F-B136-7576480D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143000"/>
            <a:ext cx="90678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4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0102A-8826-440B-91FC-68A7800E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33500"/>
            <a:ext cx="8763000" cy="546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We built a robust phishing detection pipeline using ANN ensemble + confidence-aware hybrid logic.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Internal performance is strong and external performance improves with hybrid mode.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Core novelty: selective override based on confidence and security rules.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Next steps: calibration, richer explainability, and continuous drift-aware updates.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Thank you.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9C551-B391-4047-A369-6FBD8D69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67550"/>
            <a:ext cx="975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7"/>
          </a:solidFill>
          <a:ln xmlns:a="http://schemas.openxmlformats.org/drawingml/2006/main" w="0">
            <a:solidFill>
              <a:srgbClr val="E5EC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2F764-75DE-4470-A5AB-F4F33644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08660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1171554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2026-04-23T02:20:29.7960000Z</dcterms:created>
  <dcterms:modified xsi:type="dcterms:W3CDTF">2026-04-23T02:20:29.7960000Z</dcterms:modified>
</coreProperties>
</file>